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8738A"/>
          </a:solidFill>
          <a:ln w="12700">
            <a:solidFill>
              <a:srgbClr val="0873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84048"/>
            <a:ext cx="11109960" cy="7132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63B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TriageVoz Rural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94360" y="1252728"/>
            <a:ext cx="10927080" cy="0"/>
          </a:xfrm>
          <a:prstGeom prst="line">
            <a:avLst/>
          </a:prstGeom>
          <a:noFill/>
          <a:ln w="13970">
            <a:solidFill>
              <a:srgbClr val="BAD5D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6492240"/>
            <a:ext cx="1065276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564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TriageVoz Rural · PC2 · Grupo 10 · UNI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274552" y="6464808"/>
            <a:ext cx="32004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87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554480"/>
            <a:ext cx="1097280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87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Pre-triaje multimodal en postas rurales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640080" y="2441448"/>
            <a:ext cx="10863072" cy="2395728"/>
          </a:xfrm>
          <a:prstGeom prst="roundRect">
            <a:avLst>
              <a:gd name="adj" fmla="val 6107"/>
            </a:avLst>
          </a:prstGeom>
          <a:solidFill>
            <a:srgbClr val="EAF5F8"/>
          </a:solidFill>
          <a:ln w="12700">
            <a:solidFill>
              <a:srgbClr val="BAD5D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2697480"/>
            <a:ext cx="10241280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3B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Grupo 10  ·  CC451 Interacción Humano-Computador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960120" y="3227832"/>
            <a:ext cx="9875520" cy="1280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63B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Santa Cruz Basilio, Jesus Diego — 20235005G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163B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López Arteaga, César Omar — 20215508C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163B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Pumayauli Evangelista, Bryan José — 20212209E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676656" y="5212080"/>
            <a:ext cx="10881360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34E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Prototipo educativo con casos ficticios; no valida ni sustituye una valoración médica.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8738A"/>
          </a:solidFill>
          <a:ln w="12700">
            <a:solidFill>
              <a:srgbClr val="0873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84048"/>
            <a:ext cx="11109960" cy="7132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63B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· Problema y propósito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94360" y="1252728"/>
            <a:ext cx="10927080" cy="0"/>
          </a:xfrm>
          <a:prstGeom prst="line">
            <a:avLst/>
          </a:prstGeom>
          <a:noFill/>
          <a:ln w="13970">
            <a:solidFill>
              <a:srgbClr val="BAD5D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6492240"/>
            <a:ext cx="1065276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564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TriageVoz Rural · PC2 · Grupo 10 · UNI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274552" y="6464808"/>
            <a:ext cx="32004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87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77240" y="1691640"/>
            <a:ext cx="10515600" cy="5212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63B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Limitaciones de especialistas y conectividad en postas rurales.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77240" y="2514600"/>
            <a:ext cx="10515600" cy="5212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63B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Registro inicial de síntomas con voz, texto y silueta corporal.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77240" y="3337560"/>
            <a:ext cx="10515600" cy="5212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63B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Confirmación y corrección de datos antes de compartir el caso.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758952" y="4279392"/>
            <a:ext cx="10652760" cy="1216152"/>
          </a:xfrm>
          <a:prstGeom prst="roundRect">
            <a:avLst>
              <a:gd name="adj" fmla="val 12030"/>
            </a:avLst>
          </a:prstGeom>
          <a:solidFill>
            <a:srgbClr val="EAF5F8"/>
          </a:solidFill>
          <a:ln w="12700">
            <a:solidFill>
              <a:srgbClr val="BAD5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24128" y="4498848"/>
            <a:ext cx="10021824" cy="8138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3B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Alcance: organizar un relato ficticio y facilitar su revisión por un rol médico simulado; sin clasificación clínica automatizada.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8738A"/>
          </a:solidFill>
          <a:ln w="12700">
            <a:solidFill>
              <a:srgbClr val="0873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84048"/>
            <a:ext cx="11109960" cy="7132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63B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· PACT y diversidad de usuarios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94360" y="1252728"/>
            <a:ext cx="10927080" cy="0"/>
          </a:xfrm>
          <a:prstGeom prst="line">
            <a:avLst/>
          </a:prstGeom>
          <a:noFill/>
          <a:ln w="13970">
            <a:solidFill>
              <a:srgbClr val="BAD5D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6492240"/>
            <a:ext cx="1065276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564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TriageVoz Rural · PC2 · Grupo 10 · UNI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274552" y="6464808"/>
            <a:ext cx="32004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87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31520" y="1563624"/>
            <a:ext cx="2194560" cy="841248"/>
          </a:xfrm>
          <a:prstGeom prst="roundRect">
            <a:avLst>
              <a:gd name="adj" fmla="val 17391"/>
            </a:avLst>
          </a:prstGeom>
          <a:solidFill>
            <a:srgbClr val="08738A"/>
          </a:solidFill>
          <a:ln w="12700">
            <a:solidFill>
              <a:srgbClr val="08738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1709928"/>
            <a:ext cx="173736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Personas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108960" y="1563624"/>
            <a:ext cx="8321040" cy="841248"/>
          </a:xfrm>
          <a:prstGeom prst="roundRect">
            <a:avLst>
              <a:gd name="adj" fmla="val 17391"/>
            </a:avLst>
          </a:prstGeom>
          <a:solidFill>
            <a:srgbClr val="EAF5F8"/>
          </a:solidFill>
          <a:ln w="12700">
            <a:solidFill>
              <a:srgbClr val="BAD5D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64992" y="1664208"/>
            <a:ext cx="777240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63B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Pacientes, adultos mayores, discapacidad, personal de posta y médicos.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31520" y="2633472"/>
            <a:ext cx="2194560" cy="841248"/>
          </a:xfrm>
          <a:prstGeom prst="roundRect">
            <a:avLst>
              <a:gd name="adj" fmla="val 17391"/>
            </a:avLst>
          </a:prstGeom>
          <a:solidFill>
            <a:srgbClr val="08738A"/>
          </a:solidFill>
          <a:ln w="12700">
            <a:solidFill>
              <a:srgbClr val="0873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2779776"/>
            <a:ext cx="173736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Actividades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108960" y="2633472"/>
            <a:ext cx="8321040" cy="841248"/>
          </a:xfrm>
          <a:prstGeom prst="roundRect">
            <a:avLst>
              <a:gd name="adj" fmla="val 17391"/>
            </a:avLst>
          </a:prstGeom>
          <a:solidFill>
            <a:srgbClr val="EAF5F8"/>
          </a:solidFill>
          <a:ln w="12700">
            <a:solidFill>
              <a:srgbClr val="BAD5D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64992" y="2734056"/>
            <a:ext cx="777240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63B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Seleccionar región, responder, confirmar, enviar y consultar respuesta.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31520" y="3703320"/>
            <a:ext cx="2194560" cy="841248"/>
          </a:xfrm>
          <a:prstGeom prst="roundRect">
            <a:avLst>
              <a:gd name="adj" fmla="val 17391"/>
            </a:avLst>
          </a:prstGeom>
          <a:solidFill>
            <a:srgbClr val="08738A"/>
          </a:solidFill>
          <a:ln w="12700">
            <a:solidFill>
              <a:srgbClr val="08738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0120" y="3849624"/>
            <a:ext cx="173736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Contextos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3108960" y="3703320"/>
            <a:ext cx="8321040" cy="841248"/>
          </a:xfrm>
          <a:prstGeom prst="roundRect">
            <a:avLst>
              <a:gd name="adj" fmla="val 17391"/>
            </a:avLst>
          </a:prstGeom>
          <a:solidFill>
            <a:srgbClr val="EAF5F8"/>
          </a:solidFill>
          <a:ln w="12700">
            <a:solidFill>
              <a:srgbClr val="BAD5D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64992" y="3803904"/>
            <a:ext cx="777240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63B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Conectividad inestable, estrés, equipos compartidos y entornos ruidosos.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31520" y="4773168"/>
            <a:ext cx="2194560" cy="841248"/>
          </a:xfrm>
          <a:prstGeom prst="roundRect">
            <a:avLst>
              <a:gd name="adj" fmla="val 17391"/>
            </a:avLst>
          </a:prstGeom>
          <a:solidFill>
            <a:srgbClr val="08738A"/>
          </a:solidFill>
          <a:ln w="12700">
            <a:solidFill>
              <a:srgbClr val="08738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60120" y="4919472"/>
            <a:ext cx="173736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Tecnologías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3108960" y="4773168"/>
            <a:ext cx="8321040" cy="841248"/>
          </a:xfrm>
          <a:prstGeom prst="roundRect">
            <a:avLst>
              <a:gd name="adj" fmla="val 17391"/>
            </a:avLst>
          </a:prstGeom>
          <a:solidFill>
            <a:srgbClr val="EAF5F8"/>
          </a:solidFill>
          <a:ln w="12700">
            <a:solidFill>
              <a:srgbClr val="BAD5D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64992" y="4873752"/>
            <a:ext cx="777240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63B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PWA, SVG táctil, Web Speech API opcional, servidor Node.js y JSON.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8738A"/>
          </a:solidFill>
          <a:ln w="12700">
            <a:solidFill>
              <a:srgbClr val="0873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84048"/>
            <a:ext cx="11109960" cy="7132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63B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· Arquitectura C4 / contenedores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94360" y="1252728"/>
            <a:ext cx="10927080" cy="0"/>
          </a:xfrm>
          <a:prstGeom prst="line">
            <a:avLst/>
          </a:prstGeom>
          <a:noFill/>
          <a:ln w="13970">
            <a:solidFill>
              <a:srgbClr val="BAD5D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6492240"/>
            <a:ext cx="1065276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564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TriageVoz Rural · PC2 · Grupo 10 · UNI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274552" y="6464808"/>
            <a:ext cx="32004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87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85800" y="1938528"/>
            <a:ext cx="3090672" cy="1572768"/>
          </a:xfrm>
          <a:prstGeom prst="roundRect">
            <a:avLst>
              <a:gd name="adj" fmla="val 9302"/>
            </a:avLst>
          </a:prstGeom>
          <a:solidFill>
            <a:srgbClr val="EAF5F8"/>
          </a:solidFill>
          <a:ln w="12700">
            <a:solidFill>
              <a:srgbClr val="BAD5D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0392" y="2212848"/>
            <a:ext cx="2761488" cy="4480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87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Navegador PWA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22960" y="2770632"/>
            <a:ext cx="2816352" cy="6126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63B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Interfaz, accesibilidad, voz y silueta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0" y="1938528"/>
            <a:ext cx="3063240" cy="1572768"/>
          </a:xfrm>
          <a:prstGeom prst="roundRect">
            <a:avLst>
              <a:gd name="adj" fmla="val 9302"/>
            </a:avLst>
          </a:prstGeom>
          <a:solidFill>
            <a:srgbClr val="EAF5F8"/>
          </a:solidFill>
          <a:ln w="12700">
            <a:solidFill>
              <a:srgbClr val="BAD5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36592" y="2212848"/>
            <a:ext cx="2734056" cy="4480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87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Servidor Node.js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709160" y="2770632"/>
            <a:ext cx="2788920" cy="6126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63B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 REST, validación y envío de casos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394192" y="1938528"/>
            <a:ext cx="3044952" cy="1572768"/>
          </a:xfrm>
          <a:prstGeom prst="roundRect">
            <a:avLst>
              <a:gd name="adj" fmla="val 9302"/>
            </a:avLst>
          </a:prstGeom>
          <a:solidFill>
            <a:srgbClr val="EAF5F8"/>
          </a:solidFill>
          <a:ln w="12700">
            <a:solidFill>
              <a:srgbClr val="BAD5D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58784" y="2212848"/>
            <a:ext cx="2715768" cy="4480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87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JSON local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8531352" y="2770632"/>
            <a:ext cx="2770632" cy="6126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63B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Persistencia de casos ficticios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941064" y="2432304"/>
            <a:ext cx="484632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087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3100" dirty="0"/>
          </a:p>
        </p:txBody>
      </p:sp>
      <p:sp>
        <p:nvSpPr>
          <p:cNvPr id="17" name="Text 15"/>
          <p:cNvSpPr/>
          <p:nvPr/>
        </p:nvSpPr>
        <p:spPr>
          <a:xfrm>
            <a:off x="7772400" y="2432304"/>
            <a:ext cx="484632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087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3100" dirty="0"/>
          </a:p>
        </p:txBody>
      </p:sp>
      <p:sp>
        <p:nvSpPr>
          <p:cNvPr id="18" name="Shape 16"/>
          <p:cNvSpPr/>
          <p:nvPr/>
        </p:nvSpPr>
        <p:spPr>
          <a:xfrm>
            <a:off x="4334256" y="4151376"/>
            <a:ext cx="3456432" cy="1097280"/>
          </a:xfrm>
          <a:prstGeom prst="roundRect">
            <a:avLst>
              <a:gd name="adj" fmla="val 13333"/>
            </a:avLst>
          </a:prstGeom>
          <a:solidFill>
            <a:srgbClr val="EAF5F8"/>
          </a:solidFill>
          <a:ln w="12700">
            <a:solidFill>
              <a:srgbClr val="D79B4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26864" y="4315968"/>
            <a:ext cx="2862072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3B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Gemini opcional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590288" y="4681728"/>
            <a:ext cx="292608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63B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Clave solo en servidor · fallback local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8738A"/>
          </a:solidFill>
          <a:ln w="12700">
            <a:solidFill>
              <a:srgbClr val="0873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84048"/>
            <a:ext cx="11109960" cy="7132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63B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 · Flujo principal de interacción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94360" y="1252728"/>
            <a:ext cx="10927080" cy="0"/>
          </a:xfrm>
          <a:prstGeom prst="line">
            <a:avLst/>
          </a:prstGeom>
          <a:noFill/>
          <a:ln w="13970">
            <a:solidFill>
              <a:srgbClr val="BAD5D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6492240"/>
            <a:ext cx="1065276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564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TriageVoz Rural · PC2 · Grupo 10 · UNI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274552" y="6464808"/>
            <a:ext cx="32004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87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50392" y="1481328"/>
            <a:ext cx="10442448" cy="667512"/>
          </a:xfrm>
          <a:prstGeom prst="roundRect">
            <a:avLst>
              <a:gd name="adj" fmla="val 21918"/>
            </a:avLst>
          </a:prstGeom>
          <a:solidFill>
            <a:srgbClr val="EAF5F8"/>
          </a:solidFill>
          <a:ln w="12700">
            <a:solidFill>
              <a:srgbClr val="BAD5D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50976" y="1600200"/>
            <a:ext cx="429768" cy="411480"/>
          </a:xfrm>
          <a:prstGeom prst="roundRect">
            <a:avLst>
              <a:gd name="adj" fmla="val 35556"/>
            </a:avLst>
          </a:prstGeom>
          <a:solidFill>
            <a:srgbClr val="08738A"/>
          </a:solidFill>
          <a:ln w="12700">
            <a:solidFill>
              <a:srgbClr val="0873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69848" y="1636776"/>
            <a:ext cx="164592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636776" y="1591056"/>
            <a:ext cx="909828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63B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Preferencias e inicio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850392" y="2322576"/>
            <a:ext cx="10442448" cy="667512"/>
          </a:xfrm>
          <a:prstGeom prst="roundRect">
            <a:avLst>
              <a:gd name="adj" fmla="val 21918"/>
            </a:avLst>
          </a:prstGeom>
          <a:solidFill>
            <a:srgbClr val="FFFFFF"/>
          </a:solidFill>
          <a:ln w="12700">
            <a:solidFill>
              <a:srgbClr val="BAD5D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50976" y="2441448"/>
            <a:ext cx="429768" cy="411480"/>
          </a:xfrm>
          <a:prstGeom prst="roundRect">
            <a:avLst>
              <a:gd name="adj" fmla="val 35556"/>
            </a:avLst>
          </a:prstGeom>
          <a:solidFill>
            <a:srgbClr val="08738A"/>
          </a:solidFill>
          <a:ln w="12700">
            <a:solidFill>
              <a:srgbClr val="08738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69848" y="2478024"/>
            <a:ext cx="164592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636776" y="2432304"/>
            <a:ext cx="909828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63B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Zona corporal y confirmación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850392" y="3163824"/>
            <a:ext cx="10442448" cy="667512"/>
          </a:xfrm>
          <a:prstGeom prst="roundRect">
            <a:avLst>
              <a:gd name="adj" fmla="val 21918"/>
            </a:avLst>
          </a:prstGeom>
          <a:solidFill>
            <a:srgbClr val="EAF5F8"/>
          </a:solidFill>
          <a:ln w="12700">
            <a:solidFill>
              <a:srgbClr val="BAD5D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50976" y="3282696"/>
            <a:ext cx="429768" cy="411480"/>
          </a:xfrm>
          <a:prstGeom prst="roundRect">
            <a:avLst>
              <a:gd name="adj" fmla="val 35556"/>
            </a:avLst>
          </a:prstGeom>
          <a:solidFill>
            <a:srgbClr val="08738A"/>
          </a:solidFill>
          <a:ln w="12700">
            <a:solidFill>
              <a:srgbClr val="08738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69848" y="3319272"/>
            <a:ext cx="164592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636776" y="3273552"/>
            <a:ext cx="909828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63B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Entrevista: cuatro preguntas</a:t>
            </a:r>
            <a:endParaRPr lang="en-US" sz="1900" dirty="0"/>
          </a:p>
        </p:txBody>
      </p:sp>
      <p:sp>
        <p:nvSpPr>
          <p:cNvPr id="19" name="Shape 17"/>
          <p:cNvSpPr/>
          <p:nvPr/>
        </p:nvSpPr>
        <p:spPr>
          <a:xfrm>
            <a:off x="850392" y="4005072"/>
            <a:ext cx="10442448" cy="667512"/>
          </a:xfrm>
          <a:prstGeom prst="roundRect">
            <a:avLst>
              <a:gd name="adj" fmla="val 21918"/>
            </a:avLst>
          </a:prstGeom>
          <a:solidFill>
            <a:srgbClr val="FFFFFF"/>
          </a:solidFill>
          <a:ln w="12700">
            <a:solidFill>
              <a:srgbClr val="BAD5D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50976" y="4123944"/>
            <a:ext cx="429768" cy="411480"/>
          </a:xfrm>
          <a:prstGeom prst="roundRect">
            <a:avLst>
              <a:gd name="adj" fmla="val 35556"/>
            </a:avLst>
          </a:prstGeom>
          <a:solidFill>
            <a:srgbClr val="08738A"/>
          </a:solidFill>
          <a:ln w="12700">
            <a:solidFill>
              <a:srgbClr val="08738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69848" y="4160520"/>
            <a:ext cx="164592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636776" y="4114800"/>
            <a:ext cx="909828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63B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Resumen y envío</a:t>
            </a:r>
            <a:endParaRPr lang="en-US" sz="1900" dirty="0"/>
          </a:p>
        </p:txBody>
      </p:sp>
      <p:sp>
        <p:nvSpPr>
          <p:cNvPr id="23" name="Shape 21"/>
          <p:cNvSpPr/>
          <p:nvPr/>
        </p:nvSpPr>
        <p:spPr>
          <a:xfrm>
            <a:off x="850392" y="4846320"/>
            <a:ext cx="10442448" cy="667512"/>
          </a:xfrm>
          <a:prstGeom prst="roundRect">
            <a:avLst>
              <a:gd name="adj" fmla="val 21918"/>
            </a:avLst>
          </a:prstGeom>
          <a:solidFill>
            <a:srgbClr val="EAF5F8"/>
          </a:solidFill>
          <a:ln w="12700">
            <a:solidFill>
              <a:srgbClr val="BAD5D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50976" y="4965192"/>
            <a:ext cx="429768" cy="411480"/>
          </a:xfrm>
          <a:prstGeom prst="roundRect">
            <a:avLst>
              <a:gd name="adj" fmla="val 35556"/>
            </a:avLst>
          </a:prstGeom>
          <a:solidFill>
            <a:srgbClr val="08738A"/>
          </a:solidFill>
          <a:ln w="12700">
            <a:solidFill>
              <a:srgbClr val="08738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69848" y="5001768"/>
            <a:ext cx="164592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636776" y="4956048"/>
            <a:ext cx="909828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63B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Recepción y respuesta</a:t>
            </a:r>
            <a:endParaRPr lang="en-US" sz="1900" dirty="0"/>
          </a:p>
        </p:txBody>
      </p:sp>
      <p:sp>
        <p:nvSpPr>
          <p:cNvPr id="27" name="Text 25"/>
          <p:cNvSpPr/>
          <p:nvPr/>
        </p:nvSpPr>
        <p:spPr>
          <a:xfrm>
            <a:off x="850392" y="5897880"/>
            <a:ext cx="10424160" cy="338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564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último código demo puede recuperarse tras recargar el navegador.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8738A"/>
          </a:solidFill>
          <a:ln w="12700">
            <a:solidFill>
              <a:srgbClr val="0873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84048"/>
            <a:ext cx="11109960" cy="7132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63B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 · Tres propuestas de interfaz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94360" y="1252728"/>
            <a:ext cx="10927080" cy="0"/>
          </a:xfrm>
          <a:prstGeom prst="line">
            <a:avLst/>
          </a:prstGeom>
          <a:noFill/>
          <a:ln w="13970">
            <a:solidFill>
              <a:srgbClr val="BAD5D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6492240"/>
            <a:ext cx="1065276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564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TriageVoz Rural · PC2 · Grupo 10 · UNI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274552" y="6464808"/>
            <a:ext cx="32004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87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40664" y="1828800"/>
            <a:ext cx="3557016" cy="2898648"/>
          </a:xfrm>
          <a:prstGeom prst="roundRect">
            <a:avLst>
              <a:gd name="adj" fmla="val 5047"/>
            </a:avLst>
          </a:prstGeom>
          <a:solidFill>
            <a:srgbClr val="EAF5F8"/>
          </a:solidFill>
          <a:ln w="12700">
            <a:solidFill>
              <a:srgbClr val="BAD5D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2130552"/>
            <a:ext cx="3145536" cy="594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87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· Formulario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960120" y="3090672"/>
            <a:ext cx="3108960" cy="10881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63B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Secuencial y claro; requiere lectura.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562856" y="1828800"/>
            <a:ext cx="3557016" cy="2898648"/>
          </a:xfrm>
          <a:prstGeom prst="roundRect">
            <a:avLst>
              <a:gd name="adj" fmla="val 5047"/>
            </a:avLst>
          </a:prstGeom>
          <a:solidFill>
            <a:srgbClr val="EAF5F8"/>
          </a:solidFill>
          <a:ln w="12700">
            <a:solidFill>
              <a:srgbClr val="BAD5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82312" y="2130552"/>
            <a:ext cx="3145536" cy="594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87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 · Conversación</a:t>
            </a:r>
            <a:endParaRPr lang="en-US" sz="2300" dirty="0"/>
          </a:p>
        </p:txBody>
      </p:sp>
      <p:sp>
        <p:nvSpPr>
          <p:cNvPr id="12" name="Text 10"/>
          <p:cNvSpPr/>
          <p:nvPr/>
        </p:nvSpPr>
        <p:spPr>
          <a:xfrm>
            <a:off x="4782312" y="3090672"/>
            <a:ext cx="3108960" cy="10881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63B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Menor escritura; vulnerable a ruido y permisos.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8385048" y="1828800"/>
            <a:ext cx="3557016" cy="2898648"/>
          </a:xfrm>
          <a:prstGeom prst="roundRect">
            <a:avLst>
              <a:gd name="adj" fmla="val 5047"/>
            </a:avLst>
          </a:prstGeom>
          <a:solidFill>
            <a:srgbClr val="D8F1F3"/>
          </a:solidFill>
          <a:ln w="12700">
            <a:solidFill>
              <a:srgbClr val="08738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04504" y="2130552"/>
            <a:ext cx="3145536" cy="594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87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 · Multimodal</a:t>
            </a:r>
            <a:endParaRPr lang="en-US" sz="2300" dirty="0"/>
          </a:p>
        </p:txBody>
      </p:sp>
      <p:sp>
        <p:nvSpPr>
          <p:cNvPr id="15" name="Text 13"/>
          <p:cNvSpPr/>
          <p:nvPr/>
        </p:nvSpPr>
        <p:spPr>
          <a:xfrm>
            <a:off x="8604504" y="3090672"/>
            <a:ext cx="3108960" cy="10881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63B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Silueta + voz + texto + confirmación.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32688" y="5212080"/>
            <a:ext cx="1033272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3B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Alternativa elegida: C, por redundancia de modalidades y menor exclusión.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8738A"/>
          </a:solidFill>
          <a:ln w="12700">
            <a:solidFill>
              <a:srgbClr val="0873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84048"/>
            <a:ext cx="11109960" cy="7132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63B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 · Colaboración: alcance real del prototipo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94360" y="1252728"/>
            <a:ext cx="10927080" cy="0"/>
          </a:xfrm>
          <a:prstGeom prst="line">
            <a:avLst/>
          </a:prstGeom>
          <a:noFill/>
          <a:ln w="13970">
            <a:solidFill>
              <a:srgbClr val="BAD5D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6492240"/>
            <a:ext cx="1065276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564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TriageVoz Rural · PC2 · Grupo 10 · UNI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274552" y="6464808"/>
            <a:ext cx="32004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87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13232" y="1618488"/>
            <a:ext cx="10789920" cy="2267712"/>
          </a:xfrm>
          <a:prstGeom prst="roundRect">
            <a:avLst>
              <a:gd name="adj" fmla="val 6452"/>
            </a:avLst>
          </a:prstGeom>
          <a:solidFill>
            <a:srgbClr val="EAF5F8"/>
          </a:solidFill>
          <a:ln w="12700">
            <a:solidFill>
              <a:srgbClr val="BAD5D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1975104"/>
            <a:ext cx="10241280" cy="594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087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PACIENTE   →   SERVIDOR LOCAL   →   ROL MÉDICO SIMULADO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1088136" y="2798064"/>
            <a:ext cx="10040112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63B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Crear caso y código  ·  consultar bandeja  ·  confirmar recepción  ·  responder  ·  consultar historial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77824" y="4636008"/>
            <a:ext cx="10469880" cy="10058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B34E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implementa videollamada, chat instantáneo, autenticación clínica ni conexión remota entre equipos.</a:t>
            </a:r>
            <a:endParaRPr lang="en-US" sz="1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8738A"/>
          </a:solidFill>
          <a:ln w="12700">
            <a:solidFill>
              <a:srgbClr val="0873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84048"/>
            <a:ext cx="11109960" cy="7132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63B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 · Pruebas de integración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94360" y="1252728"/>
            <a:ext cx="10927080" cy="0"/>
          </a:xfrm>
          <a:prstGeom prst="line">
            <a:avLst/>
          </a:prstGeom>
          <a:noFill/>
          <a:ln w="13970">
            <a:solidFill>
              <a:srgbClr val="BAD5D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6492240"/>
            <a:ext cx="1065276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564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TriageVoz Rural · PC2 · Grupo 10 · UNI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274552" y="6464808"/>
            <a:ext cx="32004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87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04672" y="1591056"/>
            <a:ext cx="3758184" cy="3511296"/>
          </a:xfrm>
          <a:prstGeom prst="roundRect">
            <a:avLst>
              <a:gd name="adj" fmla="val 4167"/>
            </a:avLst>
          </a:prstGeom>
          <a:solidFill>
            <a:srgbClr val="EAF5F8"/>
          </a:solidFill>
          <a:ln w="12700">
            <a:solidFill>
              <a:srgbClr val="08738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69848" y="2267712"/>
            <a:ext cx="3209544" cy="10058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087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 / 12</a:t>
            </a:r>
            <a:endParaRPr lang="en-US" sz="5400" dirty="0"/>
          </a:p>
        </p:txBody>
      </p:sp>
      <p:sp>
        <p:nvSpPr>
          <p:cNvPr id="9" name="Text 7"/>
          <p:cNvSpPr/>
          <p:nvPr/>
        </p:nvSpPr>
        <p:spPr>
          <a:xfrm>
            <a:off x="1124712" y="3547872"/>
            <a:ext cx="3136392" cy="8412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63B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pruebas automáticas aprobadas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828032" y="1755648"/>
            <a:ext cx="6510528" cy="5212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63B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Flujo paciente → médico → paciente.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828032" y="2633472"/>
            <a:ext cx="6510528" cy="5212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63B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Ocho escrituras simultáneas persistidas.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828032" y="3511296"/>
            <a:ext cx="6510528" cy="5212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63B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Recepción y respuestas idempotentes.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828032" y="4389120"/>
            <a:ext cx="6510528" cy="5212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63B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Validación de respuestas y errores HTTP.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950976" y="5687568"/>
            <a:ext cx="10250424" cy="3931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34E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se presentan como pruebas clínicas o ensayos con pacientes.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8738A"/>
          </a:solidFill>
          <a:ln w="12700">
            <a:solidFill>
              <a:srgbClr val="0873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84048"/>
            <a:ext cx="11109960" cy="7132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63B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 · Límites y trabajo pendiente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94360" y="1252728"/>
            <a:ext cx="10927080" cy="0"/>
          </a:xfrm>
          <a:prstGeom prst="line">
            <a:avLst/>
          </a:prstGeom>
          <a:noFill/>
          <a:ln w="13970">
            <a:solidFill>
              <a:srgbClr val="BAD5D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6492240"/>
            <a:ext cx="1065276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564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TriageVoz Rural · PC2 · Grupo 10 · UNI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274552" y="6464808"/>
            <a:ext cx="32004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87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95528" y="1627632"/>
            <a:ext cx="10570464" cy="5212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63B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Evaluación de usabilidad con personas voluntarias y criterios medibles.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95528" y="2386584"/>
            <a:ext cx="10570464" cy="5212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63B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Autenticación, roles clínicos, privacidad y seguridad de datos reales.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95528" y="3145536"/>
            <a:ext cx="10570464" cy="5212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63B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Validación lingüística; quechua está simulado.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95528" y="3904488"/>
            <a:ext cx="10570464" cy="5212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63B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Conectividad entre equipos, seguimiento clínico y despliegue remoto.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95528" y="4663440"/>
            <a:ext cx="10570464" cy="5212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63B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Capturas verificables disponibles; video personal de sustentación pendiente.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68680" y="5669280"/>
            <a:ext cx="1042416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34E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Nunca utilizar datos reales de salud en esta versión educativa.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8738A"/>
          </a:solidFill>
          <a:ln w="12700">
            <a:solidFill>
              <a:srgbClr val="0873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84048"/>
            <a:ext cx="11109960" cy="7132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63B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 · Conclusión del Grupo 10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94360" y="1252728"/>
            <a:ext cx="10927080" cy="0"/>
          </a:xfrm>
          <a:prstGeom prst="line">
            <a:avLst/>
          </a:prstGeom>
          <a:noFill/>
          <a:ln w="13970">
            <a:solidFill>
              <a:srgbClr val="BAD5D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6492240"/>
            <a:ext cx="1065276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564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TriageVoz Rural · PC2 · Grupo 10 · UNI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274552" y="6464808"/>
            <a:ext cx="32004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87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04672" y="1719072"/>
            <a:ext cx="10561320" cy="3017520"/>
          </a:xfrm>
          <a:prstGeom prst="roundRect">
            <a:avLst>
              <a:gd name="adj" fmla="val 4848"/>
            </a:avLst>
          </a:prstGeom>
          <a:solidFill>
            <a:srgbClr val="EAF5F8"/>
          </a:solidFill>
          <a:ln w="12700">
            <a:solidFill>
              <a:srgbClr val="BAD5D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33856" y="2103120"/>
            <a:ext cx="9875520" cy="19385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63B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integración conserva el diseño multimodal de LEC06/LEC07 y demuestra trazabilidad de información y confirmación entre dos roles simulados en un mismo servidor.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987552" y="5303520"/>
            <a:ext cx="10213848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87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Código y evidencias: github.com/CeSaRLoPeZArTeAgA/PC2_IHC_Grup10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Universidad Nacional de Ingeniería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TriageVoz Rural - Sustentación PC2</dc:title>
  <dc:subject>PC2 TriageVoz Rural: prototipo no clínico</dc:subject>
  <dc:creator>Grupo 10 - CC451 UNI</dc:creator>
  <cp:lastModifiedBy>Grupo 10 - CC451 UNI</cp:lastModifiedBy>
  <cp:revision>1</cp:revision>
  <dcterms:created xsi:type="dcterms:W3CDTF">2026-10-14T19:13:51Z</dcterms:created>
  <dcterms:modified xsi:type="dcterms:W3CDTF">2026-10-14T19:13:51Z</dcterms:modified>
</cp:coreProperties>
</file>